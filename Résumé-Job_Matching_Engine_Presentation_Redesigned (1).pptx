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1257300"/>
            <a:ext cx="2377440" cy="868680"/>
          </a:xfrm>
          <a:prstGeom prst="line">
            <a:avLst/>
          </a:prstGeom>
          <a:noFill/>
          <a:ln w="9525">
            <a:solidFill>
              <a:srgbClr val="3A4A7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1257300"/>
            <a:ext cx="2377440" cy="4343400"/>
          </a:xfrm>
          <a:prstGeom prst="line">
            <a:avLst/>
          </a:prstGeom>
          <a:noFill/>
          <a:ln w="9525">
            <a:solidFill>
              <a:srgbClr val="3A4A7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2125980"/>
            <a:ext cx="2377440" cy="-868680"/>
          </a:xfrm>
          <a:prstGeom prst="line">
            <a:avLst/>
          </a:prstGeom>
          <a:noFill/>
          <a:ln w="9525">
            <a:solidFill>
              <a:srgbClr val="3A4A7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78240" y="2125980"/>
            <a:ext cx="2377440" cy="0"/>
          </a:xfrm>
          <a:prstGeom prst="line">
            <a:avLst/>
          </a:prstGeom>
          <a:noFill/>
          <a:ln w="9525">
            <a:solidFill>
              <a:srgbClr val="3A4A7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78240" y="2125980"/>
            <a:ext cx="2377440" cy="868680"/>
          </a:xfrm>
          <a:prstGeom prst="line">
            <a:avLst/>
          </a:prstGeom>
          <a:noFill/>
          <a:ln w="9525">
            <a:solidFill>
              <a:srgbClr val="3A4A7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0" y="2125980"/>
            <a:ext cx="2377440" cy="2606040"/>
          </a:xfrm>
          <a:prstGeom prst="line">
            <a:avLst/>
          </a:prstGeom>
          <a:noFill/>
          <a:ln w="9525">
            <a:solidFill>
              <a:srgbClr val="3A4A7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78240" y="2125980"/>
            <a:ext cx="2377440" cy="3474720"/>
          </a:xfrm>
          <a:prstGeom prst="line">
            <a:avLst/>
          </a:prstGeom>
          <a:noFill/>
          <a:ln w="9525">
            <a:solidFill>
              <a:srgbClr val="3A4A7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778240" y="2994660"/>
            <a:ext cx="2377440" cy="-1737360"/>
          </a:xfrm>
          <a:prstGeom prst="line">
            <a:avLst/>
          </a:prstGeom>
          <a:noFill/>
          <a:ln w="9525">
            <a:solidFill>
              <a:srgbClr val="3A4A7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0" y="2994660"/>
            <a:ext cx="2377440" cy="868680"/>
          </a:xfrm>
          <a:prstGeom prst="line">
            <a:avLst/>
          </a:prstGeom>
          <a:noFill/>
          <a:ln w="9525">
            <a:solidFill>
              <a:srgbClr val="3A4A7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778240" y="2994660"/>
            <a:ext cx="2377440" cy="1737360"/>
          </a:xfrm>
          <a:prstGeom prst="line">
            <a:avLst/>
          </a:prstGeom>
          <a:noFill/>
          <a:ln w="9525">
            <a:solidFill>
              <a:srgbClr val="3A4A7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778240" y="3863340"/>
            <a:ext cx="2377440" cy="-2606040"/>
          </a:xfrm>
          <a:prstGeom prst="line">
            <a:avLst/>
          </a:prstGeom>
          <a:noFill/>
          <a:ln w="9525">
            <a:solidFill>
              <a:srgbClr val="3A4A7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778240" y="3863340"/>
            <a:ext cx="2377440" cy="0"/>
          </a:xfrm>
          <a:prstGeom prst="line">
            <a:avLst/>
          </a:prstGeom>
          <a:noFill/>
          <a:ln w="28575">
            <a:solidFill>
              <a:srgbClr val="FCA31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778240" y="4732020"/>
            <a:ext cx="2377440" cy="-3474720"/>
          </a:xfrm>
          <a:prstGeom prst="line">
            <a:avLst/>
          </a:prstGeom>
          <a:noFill/>
          <a:ln w="9525">
            <a:solidFill>
              <a:srgbClr val="3A4A7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778240" y="4732020"/>
            <a:ext cx="2377440" cy="-1737360"/>
          </a:xfrm>
          <a:prstGeom prst="line">
            <a:avLst/>
          </a:prstGeom>
          <a:noFill/>
          <a:ln w="9525">
            <a:solidFill>
              <a:srgbClr val="3A4A7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778240" y="4732020"/>
            <a:ext cx="2377440" cy="-868680"/>
          </a:xfrm>
          <a:prstGeom prst="line">
            <a:avLst/>
          </a:prstGeom>
          <a:noFill/>
          <a:ln w="9525">
            <a:solidFill>
              <a:srgbClr val="3A4A7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778240" y="4732020"/>
            <a:ext cx="2377440" cy="0"/>
          </a:xfrm>
          <a:prstGeom prst="line">
            <a:avLst/>
          </a:prstGeom>
          <a:noFill/>
          <a:ln w="9525">
            <a:solidFill>
              <a:srgbClr val="3A4A7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78240" y="5600700"/>
            <a:ext cx="2377440" cy="-3474720"/>
          </a:xfrm>
          <a:prstGeom prst="line">
            <a:avLst/>
          </a:prstGeom>
          <a:noFill/>
          <a:ln w="9525">
            <a:solidFill>
              <a:srgbClr val="3A4A7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0" y="5600700"/>
            <a:ext cx="2377440" cy="-2606040"/>
          </a:xfrm>
          <a:prstGeom prst="line">
            <a:avLst/>
          </a:prstGeom>
          <a:noFill/>
          <a:ln w="9525">
            <a:solidFill>
              <a:srgbClr val="3A4A7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778240" y="5600700"/>
            <a:ext cx="2377440" cy="-1737360"/>
          </a:xfrm>
          <a:prstGeom prst="line">
            <a:avLst/>
          </a:prstGeom>
          <a:noFill/>
          <a:ln w="9525">
            <a:solidFill>
              <a:srgbClr val="3A4A7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778240" y="5600700"/>
            <a:ext cx="2377440" cy="-868680"/>
          </a:xfrm>
          <a:prstGeom prst="line">
            <a:avLst/>
          </a:prstGeom>
          <a:noFill/>
          <a:ln w="9525">
            <a:solidFill>
              <a:srgbClr val="3A4A7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778240" y="5600700"/>
            <a:ext cx="2377440" cy="0"/>
          </a:xfrm>
          <a:prstGeom prst="line">
            <a:avLst/>
          </a:prstGeom>
          <a:noFill/>
          <a:ln w="9525">
            <a:solidFill>
              <a:srgbClr val="3A4A7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77656" y="1156716"/>
            <a:ext cx="201168" cy="201168"/>
          </a:xfrm>
          <a:prstGeom prst="ellipse">
            <a:avLst/>
          </a:prstGeom>
          <a:solidFill>
            <a:srgbClr val="2B3968"/>
          </a:solidFill>
          <a:ln w="12700">
            <a:solidFill>
              <a:srgbClr val="5C6B8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677656" y="2025396"/>
            <a:ext cx="201168" cy="201168"/>
          </a:xfrm>
          <a:prstGeom prst="ellipse">
            <a:avLst/>
          </a:prstGeom>
          <a:solidFill>
            <a:srgbClr val="2B3968"/>
          </a:solidFill>
          <a:ln w="12700">
            <a:solidFill>
              <a:srgbClr val="5C6B8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677656" y="2894076"/>
            <a:ext cx="201168" cy="201168"/>
          </a:xfrm>
          <a:prstGeom prst="ellipse">
            <a:avLst/>
          </a:prstGeom>
          <a:solidFill>
            <a:srgbClr val="2B3968"/>
          </a:solidFill>
          <a:ln w="12700">
            <a:solidFill>
              <a:srgbClr val="5C6B8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677656" y="3762756"/>
            <a:ext cx="201168" cy="201168"/>
          </a:xfrm>
          <a:prstGeom prst="ellipse">
            <a:avLst/>
          </a:prstGeom>
          <a:solidFill>
            <a:srgbClr val="2B3968"/>
          </a:solidFill>
          <a:ln w="12700">
            <a:solidFill>
              <a:srgbClr val="5C6B8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677656" y="4631436"/>
            <a:ext cx="201168" cy="201168"/>
          </a:xfrm>
          <a:prstGeom prst="ellipse">
            <a:avLst/>
          </a:prstGeom>
          <a:solidFill>
            <a:srgbClr val="2B3968"/>
          </a:solidFill>
          <a:ln w="12700">
            <a:solidFill>
              <a:srgbClr val="5C6B8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677656" y="5500116"/>
            <a:ext cx="201168" cy="201168"/>
          </a:xfrm>
          <a:prstGeom prst="ellipse">
            <a:avLst/>
          </a:prstGeom>
          <a:solidFill>
            <a:srgbClr val="2B3968"/>
          </a:solidFill>
          <a:ln w="12700">
            <a:solidFill>
              <a:srgbClr val="5C6B8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055096" y="1156716"/>
            <a:ext cx="201168" cy="201168"/>
          </a:xfrm>
          <a:prstGeom prst="ellipse">
            <a:avLst/>
          </a:prstGeom>
          <a:solidFill>
            <a:srgbClr val="2B3968"/>
          </a:solidFill>
          <a:ln w="12700">
            <a:solidFill>
              <a:srgbClr val="5C6B8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055096" y="2025396"/>
            <a:ext cx="201168" cy="201168"/>
          </a:xfrm>
          <a:prstGeom prst="ellipse">
            <a:avLst/>
          </a:prstGeom>
          <a:solidFill>
            <a:srgbClr val="2B3968"/>
          </a:solidFill>
          <a:ln w="12700">
            <a:solidFill>
              <a:srgbClr val="5C6B8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1055096" y="2894076"/>
            <a:ext cx="201168" cy="201168"/>
          </a:xfrm>
          <a:prstGeom prst="ellipse">
            <a:avLst/>
          </a:prstGeom>
          <a:solidFill>
            <a:srgbClr val="2B3968"/>
          </a:solidFill>
          <a:ln w="12700">
            <a:solidFill>
              <a:srgbClr val="5C6B8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1055096" y="3762756"/>
            <a:ext cx="201168" cy="201168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1055096" y="4631436"/>
            <a:ext cx="201168" cy="201168"/>
          </a:xfrm>
          <a:prstGeom prst="ellipse">
            <a:avLst/>
          </a:prstGeom>
          <a:solidFill>
            <a:srgbClr val="2B3968"/>
          </a:solidFill>
          <a:ln w="12700">
            <a:solidFill>
              <a:srgbClr val="5C6B8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1055096" y="5500116"/>
            <a:ext cx="201168" cy="201168"/>
          </a:xfrm>
          <a:prstGeom prst="ellipse">
            <a:avLst/>
          </a:prstGeom>
          <a:solidFill>
            <a:srgbClr val="2B3968"/>
          </a:solidFill>
          <a:ln w="12700">
            <a:solidFill>
              <a:srgbClr val="5C6B8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10515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DSA-3  ·  25CS2103E  ·  ACADEMIC PROJECT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94360" y="1463040"/>
            <a:ext cx="76809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Résumé–Job Matching
</a:t>
            </a:r>
            <a:pPr indent="0" marL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CA3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Talent Engine</a:t>
            </a:r>
            <a:endParaRPr lang="en-US" sz="4400" dirty="0"/>
          </a:p>
        </p:txBody>
      </p:sp>
      <p:sp>
        <p:nvSpPr>
          <p:cNvPr id="37" name="Text 35"/>
          <p:cNvSpPr/>
          <p:nvPr/>
        </p:nvSpPr>
        <p:spPr>
          <a:xfrm>
            <a:off x="640080" y="324612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9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deterministic algorithmic framework for skill normalization, optimal job assignment, and minimal team skill-set extraction — built without black-box models.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640080" y="5074920"/>
            <a:ext cx="7863840" cy="0"/>
          </a:xfrm>
          <a:prstGeom prst="line">
            <a:avLst/>
          </a:prstGeom>
          <a:noFill/>
          <a:ln w="12700">
            <a:solidFill>
              <a:srgbClr val="3A4A7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" y="527608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TEAM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40080" y="553212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DC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Vakkalanka Sai Bhaskara Sujit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DC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Mahankali Sai Tarun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337560" y="527608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INFO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3337560" y="553212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DC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14  |  Section 10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DC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 University, Hyderabad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035040" y="527608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SUPERVISION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035040" y="553212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DC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 Chandusha (Asst. Professor)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DC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 &amp; IT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6DA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Context &amp; Goals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CA3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1000s</a:t>
            </a:r>
            <a:endParaRPr lang="en-US" sz="6200" dirty="0"/>
          </a:p>
        </p:txBody>
      </p:sp>
      <p:sp>
        <p:nvSpPr>
          <p:cNvPr id="5" name="Text 3"/>
          <p:cNvSpPr/>
          <p:nvPr/>
        </p:nvSpPr>
        <p:spPr>
          <a:xfrm>
            <a:off x="548640" y="2514600"/>
            <a:ext cx="3977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résumés and job descriptions processed daily by modern recruitment software — too many for manual, consistent evaluation.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4114800"/>
            <a:ext cx="3977640" cy="0"/>
          </a:xfrm>
          <a:prstGeom prst="line">
            <a:avLst/>
          </a:prstGeom>
          <a:noFill/>
          <a:ln w="12700">
            <a:solidFill>
              <a:srgbClr val="D6DA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279392"/>
            <a:ext cx="3977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i="1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evaluation stays slow, inconsistent, and error-prone — diverse document formats, non-standardized titles, and synonymous skill phrasing all compound the problem.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74920" y="1554480"/>
            <a:ext cx="0" cy="4709160"/>
          </a:xfrm>
          <a:prstGeom prst="line">
            <a:avLst/>
          </a:prstGeom>
          <a:noFill/>
          <a:ln w="12700">
            <a:solidFill>
              <a:srgbClr val="D6DA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40680" y="1691640"/>
            <a:ext cx="146304" cy="146304"/>
          </a:xfrm>
          <a:prstGeom prst="ellipse">
            <a:avLst/>
          </a:prstGeom>
          <a:solidFill>
            <a:srgbClr val="14213D"/>
          </a:solidFill>
          <a:ln/>
        </p:spPr>
      </p:sp>
      <p:sp>
        <p:nvSpPr>
          <p:cNvPr id="10" name="Text 8"/>
          <p:cNvSpPr/>
          <p:nvPr/>
        </p:nvSpPr>
        <p:spPr>
          <a:xfrm>
            <a:off x="5760720" y="157276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MOTIVATION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760720" y="1965960"/>
            <a:ext cx="57607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Rather than opaque statistical models, this project engineers a transparent matching pipeline from core CS data structures — hashing, inverted indexing, weighted graph matching, and combinatorial optimization — to solve real-world talent acquisition constraints efficiently.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40680" y="3794760"/>
            <a:ext cx="146304" cy="146304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13" name="Text 11"/>
          <p:cNvSpPr/>
          <p:nvPr/>
        </p:nvSpPr>
        <p:spPr>
          <a:xfrm>
            <a:off x="5760720" y="367588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PROJECT GOAL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760720" y="4041648"/>
            <a:ext cx="5760720" cy="1600200"/>
          </a:xfrm>
          <a:prstGeom prst="rect">
            <a:avLst/>
          </a:prstGeom>
          <a:solidFill>
            <a:srgbClr val="EEF0F8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4206240"/>
            <a:ext cx="5257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i="1" dirty="0">
                <a:solidFill>
                  <a:srgbClr val="1D2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“To construct an efficient, deterministic, and fully explainable algorithmic engine that matches applicants to open roles while computing the minimal essential skill set required for complete project team staffing.”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DSA-3 (25CS2103E)  ·  Team 14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991295" y="654710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 of 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0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7CC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Abstract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11480" y="12344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0" b="1" dirty="0">
                <a:solidFill>
                  <a:srgbClr val="FCA3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7000" dirty="0"/>
          </a:p>
        </p:txBody>
      </p:sp>
      <p:sp>
        <p:nvSpPr>
          <p:cNvPr id="5" name="Text 3"/>
          <p:cNvSpPr/>
          <p:nvPr/>
        </p:nvSpPr>
        <p:spPr>
          <a:xfrm>
            <a:off x="1234440" y="1417320"/>
            <a:ext cx="96926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50" i="1" dirty="0">
                <a:solidFill>
                  <a:srgbClr val="1D2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Résumé–Job Matching &amp; Talent-Marketplace Engine that indexes candidates and roles, normalizes skill vocabularies into a unified representation, and scores compatibility with weighted similarity — then computes an optimal candidate-to-role assignment while minimizing skill gaps. It further identifies the minimum skill set required to staff a project team, supporting workforce planning and hiring decisions with a scalable, transparent pipeline that leaves no black box behind.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49808" y="4178808"/>
            <a:ext cx="10890504" cy="0"/>
          </a:xfrm>
          <a:prstGeom prst="line">
            <a:avLst/>
          </a:prstGeom>
          <a:noFill/>
          <a:ln w="19050">
            <a:solidFill>
              <a:srgbClr val="B9C0DE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548640" y="3977640"/>
            <a:ext cx="402336" cy="402336"/>
          </a:xfrm>
          <a:prstGeom prst="ellipse">
            <a:avLst/>
          </a:prstGeom>
          <a:solidFill>
            <a:srgbClr val="14213D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97764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452628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 &amp; Normalization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4965192"/>
            <a:ext cx="3429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Standardizes raw skill tokens via inverted indexing and Levenshtein-distance string matching.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480560" y="3977640"/>
            <a:ext cx="402336" cy="402336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12" name="Text 10"/>
          <p:cNvSpPr/>
          <p:nvPr/>
        </p:nvSpPr>
        <p:spPr>
          <a:xfrm>
            <a:off x="4480560" y="397764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480560" y="452628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Assignment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480560" y="4965192"/>
            <a:ext cx="3429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Computes optimal one-to-one applicant-to-role allocation via the Hungarian Algorithm.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412480" y="3977640"/>
            <a:ext cx="402336" cy="402336"/>
          </a:xfrm>
          <a:prstGeom prst="ellipse">
            <a:avLst/>
          </a:prstGeom>
          <a:solidFill>
            <a:srgbClr val="14213D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0" y="397764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412480" y="452628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Optimization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0" y="4965192"/>
            <a:ext cx="3429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Solves Set Cover via Bitmask DP and greedy heuristics for minimal team staffing.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DSA-3 (25CS2103E)  ·  Team 14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991295" y="654710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 of 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6DA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 &amp; Specifications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457200" cy="45720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5" name="Image 0" descr="icon_cpu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1728216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1627632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Toolchain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2331720"/>
            <a:ext cx="5394960" cy="658368"/>
          </a:xfrm>
          <a:prstGeom prst="rect">
            <a:avLst/>
          </a:prstGeom>
          <a:solidFill>
            <a:srgbClr val="EEF0F8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2331720"/>
            <a:ext cx="2265883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2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Language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2922422" y="2331720"/>
            <a:ext cx="291327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17+ (LTS)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777240" y="2990088"/>
            <a:ext cx="2265883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2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IDE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2922422" y="2990088"/>
            <a:ext cx="291327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IntelliJ IDEA / Eclipse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48640" y="3648456"/>
            <a:ext cx="5394960" cy="658368"/>
          </a:xfrm>
          <a:prstGeom prst="rect">
            <a:avLst/>
          </a:prstGeom>
          <a:solidFill>
            <a:srgbClr val="EEF0F8"/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" y="3648456"/>
            <a:ext cx="2265883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2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Data Structures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2922422" y="3648456"/>
            <a:ext cx="291327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Collections &amp; Adjacency Matrix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777240" y="4306824"/>
            <a:ext cx="2265883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2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Verification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2922422" y="4306824"/>
            <a:ext cx="291327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 5 Framework &amp; Git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263640" y="1627632"/>
            <a:ext cx="457200" cy="45720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18" name="Image 1" descr="icon_monitor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4224" y="1728216"/>
            <a:ext cx="256032" cy="25603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858000" y="1627632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Specifications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6263640" y="2331720"/>
            <a:ext cx="5394960" cy="658368"/>
          </a:xfrm>
          <a:prstGeom prst="rect">
            <a:avLst/>
          </a:prstGeom>
          <a:solidFill>
            <a:srgbClr val="EEF0F8"/>
          </a:solidFill>
          <a:ln/>
        </p:spPr>
      </p:sp>
      <p:sp>
        <p:nvSpPr>
          <p:cNvPr id="21" name="Text 17"/>
          <p:cNvSpPr/>
          <p:nvPr/>
        </p:nvSpPr>
        <p:spPr>
          <a:xfrm>
            <a:off x="6492240" y="2331720"/>
            <a:ext cx="2265883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2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Processor (CPU)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8637422" y="2331720"/>
            <a:ext cx="291327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Dual-core 2.0 GHz (i3 / Ryzen 3)</a:t>
            </a:r>
            <a:endParaRPr lang="en-US" sz="1150" dirty="0"/>
          </a:p>
        </p:txBody>
      </p:sp>
      <p:sp>
        <p:nvSpPr>
          <p:cNvPr id="23" name="Text 19"/>
          <p:cNvSpPr/>
          <p:nvPr/>
        </p:nvSpPr>
        <p:spPr>
          <a:xfrm>
            <a:off x="6492240" y="2990088"/>
            <a:ext cx="2265883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2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RAM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8637422" y="2990088"/>
            <a:ext cx="291327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GB min. (8 GB recommended)</a:t>
            </a:r>
            <a:endParaRPr lang="en-US" sz="1150" dirty="0"/>
          </a:p>
        </p:txBody>
      </p:sp>
      <p:sp>
        <p:nvSpPr>
          <p:cNvPr id="25" name="Shape 21"/>
          <p:cNvSpPr/>
          <p:nvPr/>
        </p:nvSpPr>
        <p:spPr>
          <a:xfrm>
            <a:off x="6263640" y="3648456"/>
            <a:ext cx="5394960" cy="658368"/>
          </a:xfrm>
          <a:prstGeom prst="rect">
            <a:avLst/>
          </a:prstGeom>
          <a:solidFill>
            <a:srgbClr val="EEF0F8"/>
          </a:solidFill>
          <a:ln/>
        </p:spPr>
      </p:sp>
      <p:sp>
        <p:nvSpPr>
          <p:cNvPr id="26" name="Text 22"/>
          <p:cNvSpPr/>
          <p:nvPr/>
        </p:nvSpPr>
        <p:spPr>
          <a:xfrm>
            <a:off x="6492240" y="3648456"/>
            <a:ext cx="2265883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2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 Storage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8637422" y="3648456"/>
            <a:ext cx="291327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MB available space</a:t>
            </a:r>
            <a:endParaRPr lang="en-US" sz="1150" dirty="0"/>
          </a:p>
        </p:txBody>
      </p:sp>
      <p:sp>
        <p:nvSpPr>
          <p:cNvPr id="28" name="Text 24"/>
          <p:cNvSpPr/>
          <p:nvPr/>
        </p:nvSpPr>
        <p:spPr>
          <a:xfrm>
            <a:off x="6492240" y="4306824"/>
            <a:ext cx="2265883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2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Requirements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8637422" y="4306824"/>
            <a:ext cx="291327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— strictly CPU-bound</a:t>
            </a:r>
            <a:endParaRPr lang="en-US" sz="1150" dirty="0"/>
          </a:p>
        </p:txBody>
      </p:sp>
      <p:sp>
        <p:nvSpPr>
          <p:cNvPr id="30" name="Shape 26"/>
          <p:cNvSpPr/>
          <p:nvPr/>
        </p:nvSpPr>
        <p:spPr>
          <a:xfrm>
            <a:off x="548640" y="5532120"/>
            <a:ext cx="11064240" cy="0"/>
          </a:xfrm>
          <a:prstGeom prst="line">
            <a:avLst/>
          </a:prstGeom>
          <a:noFill/>
          <a:ln w="12700">
            <a:solidFill>
              <a:srgbClr val="D6DAEA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548640" y="5687568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stack   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lightweight, dependency-free Java toolchain keeps the engine CPU-bound and portable — no GPU, no external ML runtime, easy to run on any lab machine.</a:t>
            </a:r>
            <a:endParaRPr lang="en-US" sz="1150" dirty="0"/>
          </a:p>
        </p:txBody>
      </p:sp>
      <p:sp>
        <p:nvSpPr>
          <p:cNvPr id="32" name="Text 28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DSA-3 (25CS2103E)  ·  Team 14</a:t>
            </a:r>
            <a:endParaRPr lang="en-US" sz="900" dirty="0"/>
          </a:p>
        </p:txBody>
      </p:sp>
      <p:sp>
        <p:nvSpPr>
          <p:cNvPr id="33" name="Text 29"/>
          <p:cNvSpPr/>
          <p:nvPr/>
        </p:nvSpPr>
        <p:spPr>
          <a:xfrm>
            <a:off x="8991295" y="654710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 of 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A4A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 Pipeline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8FD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· INGESTION &amp; INDEXING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384048" cy="384048"/>
          </a:xfrm>
          <a:prstGeom prst="ellipse">
            <a:avLst/>
          </a:prstGeom>
          <a:solidFill>
            <a:srgbClr val="2B3968"/>
          </a:solidFill>
          <a:ln/>
        </p:spPr>
      </p:sp>
      <p:pic>
        <p:nvPicPr>
          <p:cNvPr id="6" name="Image 0" descr="icon_databas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103120"/>
            <a:ext cx="201168" cy="2011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78992" y="1993392"/>
            <a:ext cx="30815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48640" y="2450592"/>
            <a:ext cx="3611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B7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Parses raw text &amp; structured files into candidate and job profiles.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48640" y="3246120"/>
            <a:ext cx="384048" cy="384048"/>
          </a:xfrm>
          <a:prstGeom prst="ellipse">
            <a:avLst/>
          </a:prstGeom>
          <a:solidFill>
            <a:srgbClr val="2B3968"/>
          </a:solidFill>
          <a:ln/>
        </p:spPr>
      </p:sp>
      <p:pic>
        <p:nvPicPr>
          <p:cNvPr id="10" name="Image 1" descr="icon_search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337560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78992" y="3227832"/>
            <a:ext cx="30815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Normalization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548640" y="3685032"/>
            <a:ext cx="3611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B7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Dictionary lookup with Levenshtein-distance fuzzy fallback.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548640" y="4480560"/>
            <a:ext cx="384048" cy="384048"/>
          </a:xfrm>
          <a:prstGeom prst="ellipse">
            <a:avLst/>
          </a:prstGeom>
          <a:solidFill>
            <a:srgbClr val="2B3968"/>
          </a:solidFill>
          <a:ln/>
        </p:spPr>
      </p:sp>
      <p:pic>
        <p:nvPicPr>
          <p:cNvPr id="14" name="Image 2" descr="icon_layer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572000"/>
            <a:ext cx="201168" cy="20116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78992" y="4462272"/>
            <a:ext cx="30815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Inverted Indexing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548640" y="4919472"/>
            <a:ext cx="3611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B7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Hash-based index mapping normalized skills to candidate/job IDs.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4279392" y="1417320"/>
            <a:ext cx="3886200" cy="4709160"/>
          </a:xfrm>
          <a:prstGeom prst="rect">
            <a:avLst/>
          </a:prstGeom>
          <a:solidFill>
            <a:srgbClr val="1D2E56"/>
          </a:solidFill>
          <a:ln w="15875">
            <a:solidFill>
              <a:srgbClr val="FCA311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4416552" y="155448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· SCORING &amp; OPTIMIZATION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416552" y="2011680"/>
            <a:ext cx="384048" cy="384048"/>
          </a:xfrm>
          <a:prstGeom prst="ellipse">
            <a:avLst/>
          </a:prstGeom>
          <a:solidFill>
            <a:srgbClr val="FCA311"/>
          </a:solidFill>
          <a:ln/>
        </p:spPr>
      </p:sp>
      <p:pic>
        <p:nvPicPr>
          <p:cNvPr id="20" name="Image 3" descr="icon_barchart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7992" y="2103120"/>
            <a:ext cx="201168" cy="20116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946904" y="1993392"/>
            <a:ext cx="30815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Scoring Engine</a:t>
            </a:r>
            <a:endParaRPr lang="en-US" sz="1250" dirty="0"/>
          </a:p>
        </p:txBody>
      </p:sp>
      <p:sp>
        <p:nvSpPr>
          <p:cNvPr id="22" name="Text 16"/>
          <p:cNvSpPr/>
          <p:nvPr/>
        </p:nvSpPr>
        <p:spPr>
          <a:xfrm>
            <a:off x="4416552" y="2450592"/>
            <a:ext cx="3611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B7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Evaluates pairwise compatibility; builds a cost/gap adjacency matrix.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4416552" y="3246120"/>
            <a:ext cx="384048" cy="384048"/>
          </a:xfrm>
          <a:prstGeom prst="ellipse">
            <a:avLst/>
          </a:prstGeom>
          <a:solidFill>
            <a:srgbClr val="FCA311"/>
          </a:solidFill>
          <a:ln/>
        </p:spPr>
      </p:sp>
      <p:pic>
        <p:nvPicPr>
          <p:cNvPr id="24" name="Image 4" descr="icon_gitmerge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7992" y="3337560"/>
            <a:ext cx="201168" cy="201168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4946904" y="3227832"/>
            <a:ext cx="30815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Assignment</a:t>
            </a:r>
            <a:endParaRPr lang="en-US" sz="1250" dirty="0"/>
          </a:p>
        </p:txBody>
      </p:sp>
      <p:sp>
        <p:nvSpPr>
          <p:cNvPr id="26" name="Text 19"/>
          <p:cNvSpPr/>
          <p:nvPr/>
        </p:nvSpPr>
        <p:spPr>
          <a:xfrm>
            <a:off x="4416552" y="3685032"/>
            <a:ext cx="3611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B7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Hungarian Algorithm solves maximum weighted bipartite matching.</a:t>
            </a:r>
            <a:endParaRPr lang="en-US" sz="1050" dirty="0"/>
          </a:p>
        </p:txBody>
      </p:sp>
      <p:sp>
        <p:nvSpPr>
          <p:cNvPr id="27" name="Shape 20"/>
          <p:cNvSpPr/>
          <p:nvPr/>
        </p:nvSpPr>
        <p:spPr>
          <a:xfrm>
            <a:off x="4416552" y="4480560"/>
            <a:ext cx="384048" cy="384048"/>
          </a:xfrm>
          <a:prstGeom prst="ellipse">
            <a:avLst/>
          </a:prstGeom>
          <a:solidFill>
            <a:srgbClr val="FCA311"/>
          </a:solidFill>
          <a:ln/>
        </p:spPr>
      </p:sp>
      <p:pic>
        <p:nvPicPr>
          <p:cNvPr id="28" name="Image 5" descr="icon_target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07992" y="4572000"/>
            <a:ext cx="201168" cy="201168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4946904" y="4462272"/>
            <a:ext cx="30815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Min. Skill Set (Set Cover)</a:t>
            </a:r>
            <a:endParaRPr lang="en-US" sz="1250" dirty="0"/>
          </a:p>
        </p:txBody>
      </p:sp>
      <p:sp>
        <p:nvSpPr>
          <p:cNvPr id="30" name="Text 22"/>
          <p:cNvSpPr/>
          <p:nvPr/>
        </p:nvSpPr>
        <p:spPr>
          <a:xfrm>
            <a:off x="4416552" y="4919472"/>
            <a:ext cx="3611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B7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Bitmask DP for exact solutions; greedy approximation for large N.</a:t>
            </a:r>
            <a:endParaRPr lang="en-US" sz="1050" dirty="0"/>
          </a:p>
        </p:txBody>
      </p:sp>
      <p:sp>
        <p:nvSpPr>
          <p:cNvPr id="31" name="Text 23"/>
          <p:cNvSpPr/>
          <p:nvPr/>
        </p:nvSpPr>
        <p:spPr>
          <a:xfrm>
            <a:off x="8284464" y="155448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8FD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· OUTPUT &amp; ANALYTICS</a:t>
            </a:r>
            <a:endParaRPr lang="en-US" sz="1050" dirty="0"/>
          </a:p>
        </p:txBody>
      </p:sp>
      <p:sp>
        <p:nvSpPr>
          <p:cNvPr id="32" name="Shape 24"/>
          <p:cNvSpPr/>
          <p:nvPr/>
        </p:nvSpPr>
        <p:spPr>
          <a:xfrm>
            <a:off x="8284464" y="2011680"/>
            <a:ext cx="384048" cy="384048"/>
          </a:xfrm>
          <a:prstGeom prst="ellipse">
            <a:avLst/>
          </a:prstGeom>
          <a:solidFill>
            <a:srgbClr val="2B3968"/>
          </a:solidFill>
          <a:ln/>
        </p:spPr>
      </p:sp>
      <p:pic>
        <p:nvPicPr>
          <p:cNvPr id="33" name="Image 6" descr="icon_check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75904" y="2103120"/>
            <a:ext cx="201168" cy="201168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8814816" y="1993392"/>
            <a:ext cx="30815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Output</a:t>
            </a:r>
            <a:endParaRPr lang="en-US" sz="1250" dirty="0"/>
          </a:p>
        </p:txBody>
      </p:sp>
      <p:sp>
        <p:nvSpPr>
          <p:cNvPr id="35" name="Text 26"/>
          <p:cNvSpPr/>
          <p:nvPr/>
        </p:nvSpPr>
        <p:spPr>
          <a:xfrm>
            <a:off x="8284464" y="2450592"/>
            <a:ext cx="3611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B7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optimal candidate-to-role mappings with skill-deficit reports.</a:t>
            </a:r>
            <a:endParaRPr lang="en-US" sz="1050" dirty="0"/>
          </a:p>
        </p:txBody>
      </p:sp>
      <p:sp>
        <p:nvSpPr>
          <p:cNvPr id="36" name="Shape 27"/>
          <p:cNvSpPr/>
          <p:nvPr/>
        </p:nvSpPr>
        <p:spPr>
          <a:xfrm>
            <a:off x="8284464" y="3246120"/>
            <a:ext cx="384048" cy="384048"/>
          </a:xfrm>
          <a:prstGeom prst="ellipse">
            <a:avLst/>
          </a:prstGeom>
          <a:solidFill>
            <a:srgbClr val="2B3968"/>
          </a:solidFill>
          <a:ln/>
        </p:spPr>
      </p:sp>
      <p:pic>
        <p:nvPicPr>
          <p:cNvPr id="37" name="Image 7" descr="icon_trend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75904" y="3337560"/>
            <a:ext cx="201168" cy="201168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8814816" y="3227832"/>
            <a:ext cx="30815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Reporting</a:t>
            </a:r>
            <a:endParaRPr lang="en-US" sz="1250" dirty="0"/>
          </a:p>
        </p:txBody>
      </p:sp>
      <p:sp>
        <p:nvSpPr>
          <p:cNvPr id="39" name="Text 29"/>
          <p:cNvSpPr/>
          <p:nvPr/>
        </p:nvSpPr>
        <p:spPr>
          <a:xfrm>
            <a:off x="8284464" y="3685032"/>
            <a:ext cx="3611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B7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 hiring efficiency and coverage metrics for planning.</a:t>
            </a:r>
            <a:endParaRPr lang="en-US" sz="1050" dirty="0"/>
          </a:p>
        </p:txBody>
      </p:sp>
      <p:sp>
        <p:nvSpPr>
          <p:cNvPr id="40" name="Shape 30"/>
          <p:cNvSpPr/>
          <p:nvPr/>
        </p:nvSpPr>
        <p:spPr>
          <a:xfrm>
            <a:off x="548640" y="5989320"/>
            <a:ext cx="11064240" cy="0"/>
          </a:xfrm>
          <a:prstGeom prst="line">
            <a:avLst/>
          </a:prstGeom>
          <a:noFill/>
          <a:ln w="12700">
            <a:solidFill>
              <a:srgbClr val="3A4A75"/>
            </a:solidFill>
            <a:prstDash val="solid"/>
          </a:ln>
        </p:spPr>
      </p:sp>
      <p:sp>
        <p:nvSpPr>
          <p:cNvPr id="41" name="Text 31"/>
          <p:cNvSpPr/>
          <p:nvPr/>
        </p:nvSpPr>
        <p:spPr>
          <a:xfrm>
            <a:off x="548640" y="6108192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Algorithmic Guarantee   </a:t>
            </a:r>
            <a:pPr indent="0" marL="0">
              <a:buNone/>
            </a:pPr>
            <a:r>
              <a:rPr lang="en-US" sz="1150" dirty="0">
                <a:solidFill>
                  <a:srgbClr val="C9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Globally minimal skill gaps with an O(V³) bound — complete transparency, no black-box ML opacity.</a:t>
            </a:r>
            <a:endParaRPr lang="en-US" sz="1150" dirty="0"/>
          </a:p>
        </p:txBody>
      </p:sp>
      <p:sp>
        <p:nvSpPr>
          <p:cNvPr id="42" name="Text 32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DSA-3 (25CS2103E)  ·  Team 14</a:t>
            </a:r>
            <a:endParaRPr lang="en-US" sz="900" dirty="0"/>
          </a:p>
        </p:txBody>
      </p:sp>
      <p:sp>
        <p:nvSpPr>
          <p:cNvPr id="43" name="Text 33"/>
          <p:cNvSpPr/>
          <p:nvPr/>
        </p:nvSpPr>
        <p:spPr>
          <a:xfrm>
            <a:off x="8991295" y="654710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5 of 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6DA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Survey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60020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Category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2926080" y="16002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Approach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669280" y="160020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Limitation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549640" y="16002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Engine's Advantage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94360" y="2130552"/>
            <a:ext cx="214884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Résumé Screeners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926080" y="2130552"/>
            <a:ext cx="256032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embeddings, TF-IDF, cosine similarity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669280" y="2130552"/>
            <a:ext cx="269748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Unweighted, isolated scores; no global optimization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549640" y="2130552"/>
            <a:ext cx="301752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1D2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Inverted Indexing &amp; Levenshtein metrics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108960"/>
            <a:ext cx="11064240" cy="1051560"/>
          </a:xfrm>
          <a:prstGeom prst="rect">
            <a:avLst/>
          </a:prstGeom>
          <a:solidFill>
            <a:srgbClr val="EEF0F8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3182112"/>
            <a:ext cx="214884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Matching Systems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926080" y="3182112"/>
            <a:ext cx="256032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Word2Vec + Gale–Shapley deferred acceptance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669280" y="3182112"/>
            <a:ext cx="269748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Optimizes preference stability, not skill-gap minimization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549640" y="3182112"/>
            <a:ext cx="301752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1D2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Hungarian Algorithm globally optimizes the full cost matrix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94360" y="4233672"/>
            <a:ext cx="214884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Taxonomy Matchers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926080" y="4233672"/>
            <a:ext cx="256032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dictionary lookup, empirical thresholds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669280" y="4233672"/>
            <a:ext cx="269748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Inflexible; ignores collective team staffing needs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549640" y="4233672"/>
            <a:ext cx="301752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1D2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Cover optimization for minimum team skill sets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5394960"/>
            <a:ext cx="11064240" cy="86868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5394960"/>
            <a:ext cx="10607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 &amp; Contribution   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4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 transparent, explainable pipeline built entirely on classic CS algorithms — Hashing, Levenshtein, Hungarian Assignment, and Set Cover.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DSA-3 (25CS2103E)  ·  Team 14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991295" y="654710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6 of 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1408176"/>
            <a:ext cx="2103120" cy="987552"/>
          </a:xfrm>
          <a:prstGeom prst="line">
            <a:avLst/>
          </a:prstGeom>
          <a:noFill/>
          <a:ln w="9525">
            <a:solidFill>
              <a:srgbClr val="3A4A7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1408176"/>
            <a:ext cx="2103120" cy="3950208"/>
          </a:xfrm>
          <a:prstGeom prst="line">
            <a:avLst/>
          </a:prstGeom>
          <a:noFill/>
          <a:ln w="9525">
            <a:solidFill>
              <a:srgbClr val="3A4A7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2395728"/>
            <a:ext cx="2103120" cy="-987552"/>
          </a:xfrm>
          <a:prstGeom prst="line">
            <a:avLst/>
          </a:prstGeom>
          <a:noFill/>
          <a:ln w="9525">
            <a:solidFill>
              <a:srgbClr val="3A4A7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2395728"/>
            <a:ext cx="2103120" cy="2962656"/>
          </a:xfrm>
          <a:prstGeom prst="line">
            <a:avLst/>
          </a:prstGeom>
          <a:noFill/>
          <a:ln w="9525">
            <a:solidFill>
              <a:srgbClr val="3A4A7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3383280"/>
            <a:ext cx="2103120" cy="-987552"/>
          </a:xfrm>
          <a:prstGeom prst="line">
            <a:avLst/>
          </a:prstGeom>
          <a:noFill/>
          <a:ln w="9525">
            <a:solidFill>
              <a:srgbClr val="3A4A7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3383280"/>
            <a:ext cx="2103120" cy="0"/>
          </a:xfrm>
          <a:prstGeom prst="line">
            <a:avLst/>
          </a:prstGeom>
          <a:noFill/>
          <a:ln w="28575">
            <a:solidFill>
              <a:srgbClr val="FCA31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4370832"/>
            <a:ext cx="2103120" cy="-2962656"/>
          </a:xfrm>
          <a:prstGeom prst="line">
            <a:avLst/>
          </a:prstGeom>
          <a:noFill/>
          <a:ln w="9525">
            <a:solidFill>
              <a:srgbClr val="3A4A7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4370832"/>
            <a:ext cx="2103120" cy="-987552"/>
          </a:xfrm>
          <a:prstGeom prst="line">
            <a:avLst/>
          </a:prstGeom>
          <a:noFill/>
          <a:ln w="9525">
            <a:solidFill>
              <a:srgbClr val="3A4A7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4370832"/>
            <a:ext cx="2103120" cy="987552"/>
          </a:xfrm>
          <a:prstGeom prst="line">
            <a:avLst/>
          </a:prstGeom>
          <a:noFill/>
          <a:ln w="9525">
            <a:solidFill>
              <a:srgbClr val="3A4A7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05840" y="5358384"/>
            <a:ext cx="2103120" cy="-2962656"/>
          </a:xfrm>
          <a:prstGeom prst="line">
            <a:avLst/>
          </a:prstGeom>
          <a:noFill/>
          <a:ln w="9525">
            <a:solidFill>
              <a:srgbClr val="3A4A7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05256" y="1307592"/>
            <a:ext cx="201168" cy="201168"/>
          </a:xfrm>
          <a:prstGeom prst="ellipse">
            <a:avLst/>
          </a:prstGeom>
          <a:solidFill>
            <a:srgbClr val="2B3968"/>
          </a:solidFill>
          <a:ln w="12700">
            <a:solidFill>
              <a:srgbClr val="5C6B8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05256" y="2295144"/>
            <a:ext cx="201168" cy="201168"/>
          </a:xfrm>
          <a:prstGeom prst="ellipse">
            <a:avLst/>
          </a:prstGeom>
          <a:solidFill>
            <a:srgbClr val="2B3968"/>
          </a:solidFill>
          <a:ln w="12700">
            <a:solidFill>
              <a:srgbClr val="5C6B8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05256" y="3282696"/>
            <a:ext cx="201168" cy="201168"/>
          </a:xfrm>
          <a:prstGeom prst="ellipse">
            <a:avLst/>
          </a:prstGeom>
          <a:solidFill>
            <a:srgbClr val="2B3968"/>
          </a:solidFill>
          <a:ln w="12700">
            <a:solidFill>
              <a:srgbClr val="5C6B8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05256" y="4270248"/>
            <a:ext cx="201168" cy="201168"/>
          </a:xfrm>
          <a:prstGeom prst="ellipse">
            <a:avLst/>
          </a:prstGeom>
          <a:solidFill>
            <a:srgbClr val="2B3968"/>
          </a:solidFill>
          <a:ln w="12700">
            <a:solidFill>
              <a:srgbClr val="5C6B8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05256" y="5257800"/>
            <a:ext cx="201168" cy="201168"/>
          </a:xfrm>
          <a:prstGeom prst="ellipse">
            <a:avLst/>
          </a:prstGeom>
          <a:solidFill>
            <a:srgbClr val="2B3968"/>
          </a:solidFill>
          <a:ln w="12700">
            <a:solidFill>
              <a:srgbClr val="5C6B8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008376" y="1307592"/>
            <a:ext cx="201168" cy="201168"/>
          </a:xfrm>
          <a:prstGeom prst="ellipse">
            <a:avLst/>
          </a:prstGeom>
          <a:solidFill>
            <a:srgbClr val="2B3968"/>
          </a:solidFill>
          <a:ln w="12700">
            <a:solidFill>
              <a:srgbClr val="5C6B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008376" y="2295144"/>
            <a:ext cx="201168" cy="201168"/>
          </a:xfrm>
          <a:prstGeom prst="ellipse">
            <a:avLst/>
          </a:prstGeom>
          <a:solidFill>
            <a:srgbClr val="2B3968"/>
          </a:solidFill>
          <a:ln w="12700">
            <a:solidFill>
              <a:srgbClr val="5C6B8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008376" y="3282696"/>
            <a:ext cx="201168" cy="201168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008376" y="4270248"/>
            <a:ext cx="201168" cy="201168"/>
          </a:xfrm>
          <a:prstGeom prst="ellipse">
            <a:avLst/>
          </a:prstGeom>
          <a:solidFill>
            <a:srgbClr val="2B3968"/>
          </a:solidFill>
          <a:ln w="12700">
            <a:solidFill>
              <a:srgbClr val="5C6B8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008376" y="5257800"/>
            <a:ext cx="201168" cy="201168"/>
          </a:xfrm>
          <a:prstGeom prst="ellipse">
            <a:avLst/>
          </a:prstGeom>
          <a:solidFill>
            <a:srgbClr val="2B3968"/>
          </a:solidFill>
          <a:ln w="12700">
            <a:solidFill>
              <a:srgbClr val="5C6B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0" y="214884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DSA-3  ·  25CS2103E  ·  TEAM 14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26280" y="2514600"/>
            <a:ext cx="6858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24" name="Text 22"/>
          <p:cNvSpPr/>
          <p:nvPr/>
        </p:nvSpPr>
        <p:spPr>
          <a:xfrm>
            <a:off x="4572000" y="3520440"/>
            <a:ext cx="6309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9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on the Résumé–Job Matching &amp; Talent Engine — a deterministic, explainable alternative to black-box hiring models.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572000" y="4617720"/>
            <a:ext cx="6035040" cy="0"/>
          </a:xfrm>
          <a:prstGeom prst="line">
            <a:avLst/>
          </a:prstGeom>
          <a:noFill/>
          <a:ln w="12700">
            <a:solidFill>
              <a:srgbClr val="3A4A7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0" y="4800600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Vakkalanka Sai Bhaskara Sujit   ·   Mahankali Sai Tarun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572000" y="5102352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by K. Chandusha, Asst. Professor, Dept. of CS &amp; IT — KL University, Hyderabad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DSA-3 (25CS2103E)  ·  Team 14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991295" y="654710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7 of 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2026-08-25T03:03:46Z</dcterms:created>
  <dcterms:modified xsi:type="dcterms:W3CDTF">2026-08-25T03:03:46Z</dcterms:modified>
</cp:coreProperties>
</file>